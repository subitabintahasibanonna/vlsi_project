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76" r:id="rId13"/>
    <p:sldId id="273" r:id="rId14"/>
    <p:sldId id="265" r:id="rId15"/>
    <p:sldId id="266" r:id="rId16"/>
    <p:sldId id="267" r:id="rId17"/>
    <p:sldId id="268" r:id="rId18"/>
    <p:sldId id="269" r:id="rId19"/>
    <p:sldId id="277" r:id="rId20"/>
    <p:sldId id="270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0D03-4826-3BEE-907D-D1B460DC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04CD0-4552-E4AD-A2A9-09D9126CD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EC5B7-2B50-177C-2D50-ECC83775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6E1E-3C70-B886-A554-88FF5B91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EC7B-18BE-3CE4-55E2-939B0231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33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A918-F8AC-5A11-7764-59C6F783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94B0-C582-77F4-1012-E06F7056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82809-EED1-39F5-456E-101E9BDD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FBA1-17A1-CE35-6389-62D20408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CA61F-BD69-0B2F-4547-EDA5FCDA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8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C21D-446B-84E3-DD7C-AF7297D0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275F7-4A6B-BF46-EEF3-170EFB3A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4AB6-B5DA-1B18-A859-C8AA5E3C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309A-AE1F-4ED2-96BA-46B9314C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F7581-A890-8437-015F-24B9A501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B3C-778F-8295-9AF6-0D4BA8A6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A8E7-C7BE-ED5F-6EA7-0D355D0F5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F3055-3C91-58FE-DFDA-A8919F4ED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4681D-46A0-59B6-68F1-5131BDF4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F8802-0A73-66AF-F647-9F0B0BC9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FF32F-80B5-052D-C438-B23BBFD1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5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0192-B5FC-7B69-107B-B77BEF9B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0463-AD71-BB06-9EDF-8C4CA0423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5F718-01DD-5EFC-82B8-27E2B9C16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6714E-88EF-C4AE-151D-86E6113EA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A44A7-7147-C964-0655-48DE80181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AF15A-25F3-06D1-71C3-38ED3E2D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34DFE0-9107-A2C3-3961-342E12BF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2D0BC6-69F4-8D75-7164-57496588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6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5FDE-7FC5-D879-69CB-EAC0CDEE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9052D-C5F3-739F-BD4F-E913487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7200E-864F-8D7F-C95E-F22126E6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479C4-76CE-8608-5C15-2D708E5D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2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D016A-DD92-DE10-663C-885E4946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55E8C-B70A-D2A8-FFC1-1885E1B2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D0A4E-3424-D7D3-C908-232C651B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8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AF70-5D7D-B215-E7B0-792041B0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E41D-F00D-3070-B503-03E10238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5AAC3-267E-066C-C147-D40CBEB2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FD99E-885C-E178-5A3B-A3466EAB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18CFE-54A0-998A-A27B-4850A96B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9F05F-27E1-A602-95FE-C796E3FA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6D33-E66A-D883-1ADE-7F6373A10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329A2-7A3A-AE7B-6E85-0124FB8EA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6BE31-4BA7-98B1-3123-2E7E97038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D79E2-EA40-FA1A-3426-CF7994DA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7F9EE-DD21-E87C-9AAD-086503D3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A19C5-7A51-2972-6779-95A8A0F8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7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1EE6-D0B4-7839-EFD5-66629F6C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41954-B335-E91F-B488-EBE5AC2AA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DF7D9-E8C9-3215-2E83-683FBD6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85FB6-CD98-1D36-A4B3-27367505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CE63-24A2-4DDD-C127-9D4005D5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194C7-AFC5-FF8E-85AD-EE66BFF8E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FDBE-DB99-C775-A466-44BE1F878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916ED-FC92-169E-37EF-DB6F18DD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124A9-4855-5D13-DB53-DC565566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FE3B0-B013-8898-5E99-F2084B78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7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AF536-4696-5E3E-1679-B215D8AA7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216BF-F0E8-195D-3DB5-6B84C263D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AF2B2-B76A-E0FE-311F-85EA520FE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C23DD-E766-49C2-B4F4-92AB028E9682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5B8E0-A821-9982-76F1-42FCF0A3A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66BE6-3BFA-7C53-FA42-06F541A7C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108D6-8E33-4232-8218-31779E8BF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4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0A7AEF5F-27FE-1196-D84A-F49DF0C2A79C}"/>
              </a:ext>
            </a:extLst>
          </p:cNvPr>
          <p:cNvSpPr>
            <a:spLocks/>
          </p:cNvSpPr>
          <p:nvPr/>
        </p:nvSpPr>
        <p:spPr>
          <a:xfrm>
            <a:off x="2570674" y="920407"/>
            <a:ext cx="6049645" cy="1270"/>
          </a:xfrm>
          <a:custGeom>
            <a:avLst/>
            <a:gdLst/>
            <a:ahLst/>
            <a:cxnLst/>
            <a:rect l="l" t="t" r="r" b="b"/>
            <a:pathLst>
              <a:path w="6049645">
                <a:moveTo>
                  <a:pt x="0" y="0"/>
                </a:moveTo>
                <a:lnTo>
                  <a:pt x="6049645" y="0"/>
                </a:lnTo>
              </a:path>
            </a:pathLst>
          </a:custGeom>
          <a:ln w="12700">
            <a:solidFill>
              <a:srgbClr val="4471C4"/>
            </a:solidFill>
            <a:prstDash val="solid"/>
          </a:ln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050" name="Image 4">
            <a:extLst>
              <a:ext uri="{FF2B5EF4-FFF2-40B4-BE49-F238E27FC236}">
                <a16:creationId xmlns:a16="http://schemas.microsoft.com/office/drawing/2014/main" id="{613D022B-1E5C-C319-F973-C49E4DC32F3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49" y="65088"/>
            <a:ext cx="96202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1C500EB-FD4C-EF30-2529-F51A8AF92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F831C4-4237-9FE8-CA64-BF946658B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635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56885" tIns="42849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American International University – Bangladesh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Department of Electrical and Electronic Engineering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EEE4217: VLSI CIRCUIT DESIGN LAB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3FEFDB5-38B5-8A36-F5A3-0CD0D0D13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6" y="8175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0AB4827-6B78-B770-6EAB-48BD2F6A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0" y="561785"/>
            <a:ext cx="11130437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53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endParaRPr lang="en-US" altLang="en-US" sz="1200" b="1" dirty="0"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Semester: Summer 2024-2025,Section: C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VLSI Final Project Presentation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Project Title: Design and Layout of the Logic Function ((A.B)+E+(C.D))’  Using Complementary CMOS Logic in Cadence Virtuoso.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Submitted to-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DR. SHAHRIYAR MASUD RIZVI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024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ASSOCIATE PROFESSOR,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Dept. of EEE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Faculty of Engineering, AIUB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Submitted by-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Group Submission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Group Number: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Group Members-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53085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133DC1-432D-AF6A-8912-7A84940DB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55830"/>
              </p:ext>
            </p:extLst>
          </p:nvPr>
        </p:nvGraphicFramePr>
        <p:xfrm>
          <a:off x="786580" y="4318343"/>
          <a:ext cx="8774864" cy="21668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86614">
                  <a:extLst>
                    <a:ext uri="{9D8B030D-6E8A-4147-A177-3AD203B41FA5}">
                      <a16:colId xmlns:a16="http://schemas.microsoft.com/office/drawing/2014/main" val="2435457081"/>
                    </a:ext>
                  </a:extLst>
                </a:gridCol>
                <a:gridCol w="5316002">
                  <a:extLst>
                    <a:ext uri="{9D8B030D-6E8A-4147-A177-3AD203B41FA5}">
                      <a16:colId xmlns:a16="http://schemas.microsoft.com/office/drawing/2014/main" val="3961572619"/>
                    </a:ext>
                  </a:extLst>
                </a:gridCol>
                <a:gridCol w="2672248">
                  <a:extLst>
                    <a:ext uri="{9D8B030D-6E8A-4147-A177-3AD203B41FA5}">
                      <a16:colId xmlns:a16="http://schemas.microsoft.com/office/drawing/2014/main" val="1858088275"/>
                    </a:ext>
                  </a:extLst>
                </a:gridCol>
              </a:tblGrid>
              <a:tr h="378982">
                <a:tc>
                  <a:txBody>
                    <a:bodyPr/>
                    <a:lstStyle/>
                    <a:p>
                      <a:pPr marL="1270" marR="1016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25">
                          <a:effectLst/>
                        </a:rPr>
                        <a:t>SL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marR="10795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20">
                          <a:effectLst/>
                        </a:rPr>
                        <a:t>NAME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25">
                          <a:effectLst/>
                        </a:rPr>
                        <a:t>ID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98260187"/>
                  </a:ext>
                </a:extLst>
              </a:tr>
              <a:tr h="374734">
                <a:tc>
                  <a:txBody>
                    <a:bodyPr/>
                    <a:lstStyle/>
                    <a:p>
                      <a:pPr marL="0" marR="1016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5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0795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ABDULLAH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AL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MUJAHID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889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22-49448-</a:t>
                      </a:r>
                      <a:r>
                        <a:rPr lang="en-US" sz="1200" spc="-5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52643788"/>
                  </a:ext>
                </a:extLst>
              </a:tr>
              <a:tr h="378133">
                <a:tc>
                  <a:txBody>
                    <a:bodyPr/>
                    <a:lstStyle/>
                    <a:p>
                      <a:pPr marL="0" marR="10160" algn="ctr">
                        <a:spcBef>
                          <a:spcPts val="100"/>
                        </a:spcBef>
                        <a:buNone/>
                      </a:pPr>
                      <a:r>
                        <a:rPr lang="en-US" sz="1200" spc="-5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10795" algn="ctr">
                        <a:spcBef>
                          <a:spcPts val="100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NOASHIN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ANJUM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ANIKA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8890" algn="ctr">
                        <a:spcBef>
                          <a:spcPts val="10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22-48451-</a:t>
                      </a:r>
                      <a:r>
                        <a:rPr lang="en-US" sz="1200" spc="-5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05021114"/>
                  </a:ext>
                </a:extLst>
              </a:tr>
              <a:tr h="517490">
                <a:tc>
                  <a:txBody>
                    <a:bodyPr/>
                    <a:lstStyle/>
                    <a:p>
                      <a:pPr marL="0" marR="1016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5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0795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20">
                          <a:effectLst/>
                        </a:rPr>
                        <a:t>SUBITA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BINTA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HASIB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ANONNA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889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22-48553-</a:t>
                      </a:r>
                      <a:r>
                        <a:rPr lang="en-US" sz="1200" spc="-5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44894595"/>
                  </a:ext>
                </a:extLst>
              </a:tr>
              <a:tr h="517490">
                <a:tc>
                  <a:txBody>
                    <a:bodyPr/>
                    <a:lstStyle/>
                    <a:p>
                      <a:pPr marL="0" marR="1016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spc="-5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10795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RAKIB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HOSSAIN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8890" algn="ctr">
                        <a:spcBef>
                          <a:spcPts val="75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22-48744-</a:t>
                      </a:r>
                      <a:r>
                        <a:rPr lang="en-US" sz="1200" spc="-5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6758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4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 descr="Parchment">
            <a:extLst>
              <a:ext uri="{FF2B5EF4-FFF2-40B4-BE49-F238E27FC236}">
                <a16:creationId xmlns:a16="http://schemas.microsoft.com/office/drawing/2014/main" id="{32B1B8C9-1E99-F105-A8E8-8EA4FD197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73" y="157091"/>
            <a:ext cx="11202477" cy="878513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 dirty="0">
                <a:latin typeface="Comic Sans MS" panose="030F0702030302020204" pitchFamily="66" charset="0"/>
              </a:rPr>
              <a:t>Outline of the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1DBD7-2709-A241-2F8A-405181F2E0FA}"/>
              </a:ext>
            </a:extLst>
          </p:cNvPr>
          <p:cNvSpPr txBox="1"/>
          <p:nvPr/>
        </p:nvSpPr>
        <p:spPr>
          <a:xfrm>
            <a:off x="526774" y="1035604"/>
            <a:ext cx="8619710" cy="833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Tx/>
              <a:buChar char="•"/>
            </a:pPr>
            <a:r>
              <a:rPr lang="en-US" altLang="en-US" sz="2800" b="1" dirty="0"/>
              <a:t>Aims and Objectives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•"/>
            </a:pPr>
            <a:r>
              <a:rPr lang="en-US" altLang="en-US" sz="2800" b="1" dirty="0"/>
              <a:t>Introduction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2800" b="1" dirty="0"/>
              <a:t>Theory and Logic Design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•"/>
            </a:pPr>
            <a:r>
              <a:rPr lang="en-US" altLang="en-US" sz="2800" b="1" dirty="0"/>
              <a:t>Truth Table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2800" b="1" dirty="0"/>
              <a:t>Methodology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  <a:ea typeface="Times New Roman" panose="02020603050405020304" pitchFamily="18" charset="0"/>
              </a:rPr>
              <a:t>Transient Measurement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sz="2800" b="1" dirty="0"/>
              <a:t>Stick Diagram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sz="2800" b="1" dirty="0"/>
              <a:t>Layout Design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Rule Check (DRC)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Layout vs. Schematic (LVS)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Char char="•"/>
            </a:pPr>
            <a:endParaRPr lang="en-US" sz="2800" b="1" dirty="0"/>
          </a:p>
          <a:p>
            <a:pPr>
              <a:lnSpc>
                <a:spcPct val="120000"/>
              </a:lnSpc>
              <a:buFontTx/>
              <a:buChar char="•"/>
            </a:pPr>
            <a:endParaRPr lang="en-US" sz="2800" b="1" dirty="0"/>
          </a:p>
          <a:p>
            <a:pPr>
              <a:lnSpc>
                <a:spcPct val="120000"/>
              </a:lnSpc>
              <a:buFontTx/>
              <a:buChar char="•"/>
            </a:pPr>
            <a:endParaRPr lang="en-US" sz="2800" dirty="0"/>
          </a:p>
          <a:p>
            <a:pPr>
              <a:lnSpc>
                <a:spcPct val="120000"/>
              </a:lnSpc>
              <a:buFontTx/>
              <a:buChar char="•"/>
            </a:pPr>
            <a:endParaRPr lang="en-US" altLang="en-US" sz="2800" b="1" dirty="0"/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•"/>
            </a:pPr>
            <a:endParaRPr lang="en-US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7201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 descr="Parchment">
            <a:extLst>
              <a:ext uri="{FF2B5EF4-FFF2-40B4-BE49-F238E27FC236}">
                <a16:creationId xmlns:a16="http://schemas.microsoft.com/office/drawing/2014/main" id="{330D48BD-9F6A-DE8F-CF5E-DF52B6EF4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383" y="151075"/>
            <a:ext cx="12246727" cy="95216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latin typeface="Comic Sans MS" panose="030F0702030302020204" pitchFamily="66" charset="0"/>
              </a:rPr>
              <a:t>Aims and Objectives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F6514-1A49-BE35-FCA4-BF928F7889B6}"/>
              </a:ext>
            </a:extLst>
          </p:cNvPr>
          <p:cNvSpPr txBox="1"/>
          <p:nvPr/>
        </p:nvSpPr>
        <p:spPr>
          <a:xfrm>
            <a:off x="587534" y="1974574"/>
            <a:ext cx="1097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Design the CMOS logic function F = ((A·B) + E + (C·D))’ with minimal transistors.  </a:t>
            </a:r>
          </a:p>
          <a:p>
            <a:r>
              <a:rPr lang="en-US" sz="2400" dirty="0"/>
              <a:t>2. Simulate and verify the function in Cadence Virtuoso.  </a:t>
            </a:r>
          </a:p>
          <a:p>
            <a:r>
              <a:rPr lang="en-US" sz="2400" dirty="0"/>
              <a:t>3. Optimize transistor sizes using a reference inverter.  </a:t>
            </a:r>
          </a:p>
          <a:p>
            <a:r>
              <a:rPr lang="en-US" sz="2400" dirty="0"/>
              <a:t>4. Create a stick diagram with Euler’s path for layout efficiency.  </a:t>
            </a:r>
          </a:p>
          <a:p>
            <a:r>
              <a:rPr lang="en-US" sz="2400" dirty="0"/>
              <a:t>5. Complete the physical layout and verify with DRC and LVS checks.  </a:t>
            </a:r>
          </a:p>
          <a:p>
            <a:r>
              <a:rPr lang="en-US" sz="2400" dirty="0"/>
              <a:t>6. Analyze  propagation delay post-layout. </a:t>
            </a:r>
          </a:p>
        </p:txBody>
      </p:sp>
    </p:spTree>
    <p:extLst>
      <p:ext uri="{BB962C8B-B14F-4D97-AF65-F5344CB8AC3E}">
        <p14:creationId xmlns:p14="http://schemas.microsoft.com/office/powerpoint/2010/main" val="314633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 descr="Parchment">
            <a:extLst>
              <a:ext uri="{FF2B5EF4-FFF2-40B4-BE49-F238E27FC236}">
                <a16:creationId xmlns:a16="http://schemas.microsoft.com/office/drawing/2014/main" id="{8FA0B5CF-3156-5736-A3BB-093D81AC7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6" y="0"/>
            <a:ext cx="12107548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4118E-6690-3D94-0447-87675E179288}"/>
              </a:ext>
            </a:extLst>
          </p:cNvPr>
          <p:cNvSpPr txBox="1"/>
          <p:nvPr/>
        </p:nvSpPr>
        <p:spPr>
          <a:xfrm>
            <a:off x="218661" y="1292087"/>
            <a:ext cx="1149957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dirty="0"/>
              <a:t>1. CMOS logic is widely used for its low power and reliable switching using complementary NMOS and PMOS transistors.  </a:t>
            </a:r>
          </a:p>
          <a:p>
            <a:r>
              <a:rPr lang="en-US" sz="2000" dirty="0"/>
              <a:t>2. The project focuses on designing and verifying the logic function F = ((A·B) + E + (C·D))’ ,a NOR of two AND terms and one input.  </a:t>
            </a:r>
          </a:p>
          <a:p>
            <a:r>
              <a:rPr lang="en-US" sz="2000" dirty="0"/>
              <a:t>3. Implementation involves building NMOS pull-down and PMOS pull-up transistor networks .  </a:t>
            </a:r>
          </a:p>
          <a:p>
            <a:r>
              <a:rPr lang="en-US" sz="2000" dirty="0"/>
              <a:t>4. Key steps include schematic capture, stick diagram with Euler’s path, and layout design in 45nm technology.  </a:t>
            </a:r>
          </a:p>
          <a:p>
            <a:r>
              <a:rPr lang="en-US" sz="2000" dirty="0"/>
              <a:t>5. Verification through simulations, DRC, LVS, and post-layout analysis ensures accuracy and performance.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525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 descr="Parchment">
            <a:extLst>
              <a:ext uri="{FF2B5EF4-FFF2-40B4-BE49-F238E27FC236}">
                <a16:creationId xmlns:a16="http://schemas.microsoft.com/office/drawing/2014/main" id="{BAF7839A-0D36-FC88-FBE4-91C64F909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02" y="1240"/>
            <a:ext cx="3455821" cy="1616203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0CCCC-E78B-2058-4D9B-014BC939A746}"/>
              </a:ext>
            </a:extLst>
          </p:cNvPr>
          <p:cNvSpPr txBox="1"/>
          <p:nvPr/>
        </p:nvSpPr>
        <p:spPr>
          <a:xfrm>
            <a:off x="807119" y="1705084"/>
            <a:ext cx="5021072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Pull-Up Network (PUN) uses PMOS transistors arranged to implement the dual of the logic function.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Pull-Down Network (PDN) uses NMOS transistors arranged to directly implement the original Boolean expression.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function F = ((A·B) + E + (C·D))’ involves AND, OR, and NOT operations.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NMOS transistors in series and parallel form the PDN for the AND </a:t>
            </a:r>
            <a:r>
              <a:rPr lang="en-US" dirty="0" err="1"/>
              <a:t>and</a:t>
            </a:r>
            <a:r>
              <a:rPr lang="en-US" dirty="0"/>
              <a:t> OR terms.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PMOS transistors in complementary configurations form the PUN.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CMOS design ensures proper logic operation by complementary switching between PUN and PDN.</a:t>
            </a:r>
          </a:p>
        </p:txBody>
      </p:sp>
      <p:pic>
        <p:nvPicPr>
          <p:cNvPr id="7" name="Picture 6" descr="A hand holding a piece of paper with a diagram&#10;&#10;AI-generated content may be incorrect.">
            <a:extLst>
              <a:ext uri="{FF2B5EF4-FFF2-40B4-BE49-F238E27FC236}">
                <a16:creationId xmlns:a16="http://schemas.microsoft.com/office/drawing/2014/main" id="{EB1D767D-6BE7-0797-34F6-A8D5A0ED0D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4627" y="736736"/>
            <a:ext cx="5021072" cy="5384528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4CBE61A-4BCD-7C5C-6B4A-FF3EB9233EC2}"/>
              </a:ext>
            </a:extLst>
          </p:cNvPr>
          <p:cNvSpPr txBox="1"/>
          <p:nvPr/>
        </p:nvSpPr>
        <p:spPr>
          <a:xfrm>
            <a:off x="6096000" y="6121264"/>
            <a:ext cx="592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Logic Gate-Level Representation of the Function F = ((A·B) + E + (C·D))’</a:t>
            </a:r>
          </a:p>
          <a:p>
            <a:endParaRPr lang="en-US" dirty="0"/>
          </a:p>
        </p:txBody>
      </p:sp>
      <p:sp>
        <p:nvSpPr>
          <p:cNvPr id="9" name="Oval 8" descr="Parchment">
            <a:extLst>
              <a:ext uri="{FF2B5EF4-FFF2-40B4-BE49-F238E27FC236}">
                <a16:creationId xmlns:a16="http://schemas.microsoft.com/office/drawing/2014/main" id="{B8D799FF-D3AE-6276-B963-09BA2952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6" y="0"/>
            <a:ext cx="6599462" cy="1188720"/>
          </a:xfrm>
          <a:prstGeom prst="ellipse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latin typeface="Comic Sans MS" panose="030F0702030302020204" pitchFamily="66" charset="0"/>
              </a:rPr>
              <a:t>Theory and Logic Design</a:t>
            </a:r>
          </a:p>
        </p:txBody>
      </p:sp>
    </p:spTree>
    <p:extLst>
      <p:ext uri="{BB962C8B-B14F-4D97-AF65-F5344CB8AC3E}">
        <p14:creationId xmlns:p14="http://schemas.microsoft.com/office/powerpoint/2010/main" val="329517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3532BA-AF29-EC60-3119-2538B78B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1" y="417576"/>
            <a:ext cx="10909640" cy="12493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Truth Table of F = ((A·B) + E + (C·D))’for Logic Function Verification</a:t>
            </a:r>
            <a:endParaRPr kumimoji="0" lang="en-US" altLang="en-US" sz="3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6A5D02-0088-FC32-2AF6-63B72F40A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890342"/>
              </p:ext>
            </p:extLst>
          </p:nvPr>
        </p:nvGraphicFramePr>
        <p:xfrm>
          <a:off x="320040" y="2858969"/>
          <a:ext cx="11548877" cy="3135360"/>
        </p:xfrm>
        <a:graphic>
          <a:graphicData uri="http://schemas.openxmlformats.org/drawingml/2006/table">
            <a:tbl>
              <a:tblPr firstRow="1" firstCol="1" bandRow="1"/>
              <a:tblGrid>
                <a:gridCol w="973045">
                  <a:extLst>
                    <a:ext uri="{9D8B030D-6E8A-4147-A177-3AD203B41FA5}">
                      <a16:colId xmlns:a16="http://schemas.microsoft.com/office/drawing/2014/main" val="235347062"/>
                    </a:ext>
                  </a:extLst>
                </a:gridCol>
                <a:gridCol w="954206">
                  <a:extLst>
                    <a:ext uri="{9D8B030D-6E8A-4147-A177-3AD203B41FA5}">
                      <a16:colId xmlns:a16="http://schemas.microsoft.com/office/drawing/2014/main" val="2113941730"/>
                    </a:ext>
                  </a:extLst>
                </a:gridCol>
                <a:gridCol w="935367">
                  <a:extLst>
                    <a:ext uri="{9D8B030D-6E8A-4147-A177-3AD203B41FA5}">
                      <a16:colId xmlns:a16="http://schemas.microsoft.com/office/drawing/2014/main" val="465050576"/>
                    </a:ext>
                  </a:extLst>
                </a:gridCol>
                <a:gridCol w="944786">
                  <a:extLst>
                    <a:ext uri="{9D8B030D-6E8A-4147-A177-3AD203B41FA5}">
                      <a16:colId xmlns:a16="http://schemas.microsoft.com/office/drawing/2014/main" val="1241462360"/>
                    </a:ext>
                  </a:extLst>
                </a:gridCol>
                <a:gridCol w="982465">
                  <a:extLst>
                    <a:ext uri="{9D8B030D-6E8A-4147-A177-3AD203B41FA5}">
                      <a16:colId xmlns:a16="http://schemas.microsoft.com/office/drawing/2014/main" val="4231801520"/>
                    </a:ext>
                  </a:extLst>
                </a:gridCol>
                <a:gridCol w="1316859">
                  <a:extLst>
                    <a:ext uri="{9D8B030D-6E8A-4147-A177-3AD203B41FA5}">
                      <a16:colId xmlns:a16="http://schemas.microsoft.com/office/drawing/2014/main" val="3967825498"/>
                    </a:ext>
                  </a:extLst>
                </a:gridCol>
                <a:gridCol w="1316859">
                  <a:extLst>
                    <a:ext uri="{9D8B030D-6E8A-4147-A177-3AD203B41FA5}">
                      <a16:colId xmlns:a16="http://schemas.microsoft.com/office/drawing/2014/main" val="541949283"/>
                    </a:ext>
                  </a:extLst>
                </a:gridCol>
                <a:gridCol w="1904876">
                  <a:extLst>
                    <a:ext uri="{9D8B030D-6E8A-4147-A177-3AD203B41FA5}">
                      <a16:colId xmlns:a16="http://schemas.microsoft.com/office/drawing/2014/main" val="2205626462"/>
                    </a:ext>
                  </a:extLst>
                </a:gridCol>
                <a:gridCol w="2220414">
                  <a:extLst>
                    <a:ext uri="{9D8B030D-6E8A-4147-A177-3AD203B41FA5}">
                      <a16:colId xmlns:a16="http://schemas.microsoft.com/office/drawing/2014/main" val="1957386434"/>
                    </a:ext>
                  </a:extLst>
                </a:gridCol>
              </a:tblGrid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A.B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C.D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A.B+E+C.D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(A.B+E+C.D)’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11143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010659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107291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243176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565063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194467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960357"/>
                  </a:ext>
                </a:extLst>
              </a:tr>
              <a:tr h="39192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50" marR="125750" marT="17465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69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980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 descr="Parchment">
            <a:extLst>
              <a:ext uri="{FF2B5EF4-FFF2-40B4-BE49-F238E27FC236}">
                <a16:creationId xmlns:a16="http://schemas.microsoft.com/office/drawing/2014/main" id="{77E8B8F4-0691-AD58-E850-B884B0F25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128" y="638089"/>
            <a:ext cx="4818888" cy="1476801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914400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pic>
        <p:nvPicPr>
          <p:cNvPr id="7" name="Picture 6" descr="A computer screen shot of a maze&#10;&#10;AI-generated content may be incorrect.">
            <a:extLst>
              <a:ext uri="{FF2B5EF4-FFF2-40B4-BE49-F238E27FC236}">
                <a16:creationId xmlns:a16="http://schemas.microsoft.com/office/drawing/2014/main" id="{D5318557-14D0-CD9A-A7A2-AFD0B510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4" y="376097"/>
            <a:ext cx="6126304" cy="5410067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D1C02-82AC-A153-894F-C1124D913037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Schematic Design in Virtuoso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•The circuit was created in the Virtuoso Schematic Editor XL using the gpdk045 technology library.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•The design included five PMOS and five NMOS transistors.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•Logic inputs A, B, C, D,E connected to the gates of the transistors.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•The final output node F came from the point where the pull-up and pull-down networks meet.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A589F-467A-36A2-3AD2-2258DE8E2FE2}"/>
              </a:ext>
            </a:extLst>
          </p:cNvPr>
          <p:cNvSpPr txBox="1"/>
          <p:nvPr/>
        </p:nvSpPr>
        <p:spPr>
          <a:xfrm>
            <a:off x="168965" y="5874027"/>
            <a:ext cx="6570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Transistor-Level CMOS Schematic of the Logic Function in Cadence Virtuoso For, F = ((A·B) + E + (C·D))’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7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D5C75F80-4271-87FE-D90F-A7ACBFE73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7" y="13597"/>
            <a:ext cx="7027245" cy="684440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7B5E56-1580-AEFF-32C7-2D3108B6AD4D}"/>
              </a:ext>
            </a:extLst>
          </p:cNvPr>
          <p:cNvSpPr txBox="1"/>
          <p:nvPr/>
        </p:nvSpPr>
        <p:spPr>
          <a:xfrm>
            <a:off x="7218959" y="1327664"/>
            <a:ext cx="4877184" cy="528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Setting Up Transient Simulation in ADE XL: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Once the schematic was finalized, we evaluated the dynamic response using the Analog Design Environment XL (ADE XL).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Power Supply Setup: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•A DC source of 1.8 V was connected to VDD.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•GND was set at 0 V.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Input Signal Configuration: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Inputs A, B, C, D, and E received the same pulse waveforms.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•Period: 10 ns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•Voltage levels: 0 V (low) to 1.8 V (high)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•Rise time: 10 </a:t>
            </a:r>
            <a:r>
              <a:rPr lang="en-US" sz="1700" dirty="0" err="1"/>
              <a:t>ps</a:t>
            </a: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•Fall time: 10 </a:t>
            </a:r>
            <a:r>
              <a:rPr lang="en-US" sz="1700" dirty="0" err="1"/>
              <a:t>ps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6033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FB5DBE3B-E5FA-7750-B744-9A3B42AF3E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2" y="-78658"/>
            <a:ext cx="8231314" cy="693665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433047-610A-1155-3B6C-1EE6CFB06F88}"/>
              </a:ext>
            </a:extLst>
          </p:cNvPr>
          <p:cNvSpPr txBox="1"/>
          <p:nvPr/>
        </p:nvSpPr>
        <p:spPr>
          <a:xfrm>
            <a:off x="8268336" y="1480930"/>
            <a:ext cx="3713921" cy="5232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Transient Analysis Procedure: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•We selected the transient ("</a:t>
            </a:r>
            <a:r>
              <a:rPr lang="en-US" dirty="0" err="1"/>
              <a:t>tran</a:t>
            </a:r>
            <a:r>
              <a:rPr lang="en-US" dirty="0"/>
              <a:t>")analysis option from the Choose Analyses panel.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•Under Outputs → Setup, we marked nodes A, B, C, D, E, and F as probes.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•The simulation ran using Netlist and Run.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•We examined the resulting waveforms in the ADE waveform viewer and confirmed they matched the expected logic function.</a:t>
            </a:r>
          </a:p>
        </p:txBody>
      </p:sp>
    </p:spTree>
    <p:extLst>
      <p:ext uri="{BB962C8B-B14F-4D97-AF65-F5344CB8AC3E}">
        <p14:creationId xmlns:p14="http://schemas.microsoft.com/office/powerpoint/2010/main" val="146115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8" name="Picture 14">
            <a:extLst>
              <a:ext uri="{FF2B5EF4-FFF2-40B4-BE49-F238E27FC236}">
                <a16:creationId xmlns:a16="http://schemas.microsoft.com/office/drawing/2014/main" id="{69AC92E0-7828-EFA9-8752-88CF9232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028" y="607400"/>
            <a:ext cx="2906095" cy="33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05E5C5-BA36-680A-743E-192D2FE20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331" y="3184139"/>
            <a:ext cx="3280340" cy="351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5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5A521-91F5-6034-8C40-85FC14FF0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070" y="3184139"/>
            <a:ext cx="3062301" cy="355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7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E70959-71ED-C1F8-9488-4F71A9657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8005"/>
            <a:ext cx="2935384" cy="338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5">
            <a:extLst>
              <a:ext uri="{FF2B5EF4-FFF2-40B4-BE49-F238E27FC236}">
                <a16:creationId xmlns:a16="http://schemas.microsoft.com/office/drawing/2014/main" id="{BA0A89EF-774B-4AE4-461C-55A1358B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0"/>
            <a:ext cx="124965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BFF056A-E224-98FA-24EA-1BBF71E59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3502839"/>
            <a:ext cx="1249653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58AC6545-1EA4-912F-2AB8-CB4DF25CE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7154476"/>
            <a:ext cx="1249653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BEE45645-8C32-DF72-7AB7-96C59207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10844213"/>
            <a:ext cx="124965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7B6DA3C1-EE78-F464-1F12-6AC04761D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11301413"/>
            <a:ext cx="124965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FEFFFAF7-AAB6-C2F3-E0C3-3C51EBB3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18766795"/>
            <a:ext cx="1249653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1">
            <a:extLst>
              <a:ext uri="{FF2B5EF4-FFF2-40B4-BE49-F238E27FC236}">
                <a16:creationId xmlns:a16="http://schemas.microsoft.com/office/drawing/2014/main" id="{87EF335B-6C7D-CB4D-DFC5-C98A79FEA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22501225"/>
            <a:ext cx="124965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841353D2-48ED-E945-2DD5-C1C9A5F2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26345490"/>
            <a:ext cx="12496533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F955B5A2-087C-AB37-862A-06182B76B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30042421"/>
            <a:ext cx="1249653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8543D533-A2F0-3F58-1B8C-8FD71366F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99" y="33884558"/>
            <a:ext cx="1249653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BCAFA-510D-D45C-8809-F4A2B91D9368}"/>
              </a:ext>
            </a:extLst>
          </p:cNvPr>
          <p:cNvSpPr txBox="1"/>
          <p:nvPr/>
        </p:nvSpPr>
        <p:spPr>
          <a:xfrm>
            <a:off x="3269975" y="-70101"/>
            <a:ext cx="5108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Transient Measurement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1715F-2D13-FA43-791C-7C55F4D2A549}"/>
              </a:ext>
            </a:extLst>
          </p:cNvPr>
          <p:cNvSpPr txBox="1"/>
          <p:nvPr/>
        </p:nvSpPr>
        <p:spPr>
          <a:xfrm>
            <a:off x="1282148" y="4273826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272705-B9C4-4902-66C4-4050A34B1565}"/>
              </a:ext>
            </a:extLst>
          </p:cNvPr>
          <p:cNvSpPr txBox="1"/>
          <p:nvPr/>
        </p:nvSpPr>
        <p:spPr>
          <a:xfrm>
            <a:off x="8133522" y="2630084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‘B’</a:t>
            </a:r>
          </a:p>
        </p:txBody>
      </p:sp>
    </p:spTree>
    <p:extLst>
      <p:ext uri="{BB962C8B-B14F-4D97-AF65-F5344CB8AC3E}">
        <p14:creationId xmlns:p14="http://schemas.microsoft.com/office/powerpoint/2010/main" val="986485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F951A3-3D3E-25BA-7F92-B6AE0FCF2A19}"/>
              </a:ext>
            </a:extLst>
          </p:cNvPr>
          <p:cNvSpPr txBox="1"/>
          <p:nvPr/>
        </p:nvSpPr>
        <p:spPr>
          <a:xfrm>
            <a:off x="3021497" y="78986"/>
            <a:ext cx="5108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Transient Measurement</a:t>
            </a:r>
            <a:endParaRPr lang="en-US" sz="3200" dirty="0"/>
          </a:p>
        </p:txBody>
      </p:sp>
      <p:pic>
        <p:nvPicPr>
          <p:cNvPr id="5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65FFD9-6941-15AE-6330-452BCD8ED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34" y="663761"/>
            <a:ext cx="3166440" cy="363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1EAD5A-EFE2-D4D4-0F23-09F760953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508" y="663761"/>
            <a:ext cx="3014345" cy="357378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31046-E5C1-8AD2-F92C-09D36E933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853" y="3039236"/>
            <a:ext cx="3035935" cy="356616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F45EB-5DF1-EDF2-46FA-C7E3B2ACD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192" y="3021773"/>
            <a:ext cx="3093720" cy="36010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CC35B5-4E6E-357F-F829-CC02B8EE4F71}"/>
              </a:ext>
            </a:extLst>
          </p:cNvPr>
          <p:cNvSpPr txBox="1"/>
          <p:nvPr/>
        </p:nvSpPr>
        <p:spPr>
          <a:xfrm>
            <a:off x="1805182" y="4299136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‘C’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1371B-62CC-BBCA-75E3-576F56633E06}"/>
              </a:ext>
            </a:extLst>
          </p:cNvPr>
          <p:cNvSpPr txBox="1"/>
          <p:nvPr/>
        </p:nvSpPr>
        <p:spPr>
          <a:xfrm>
            <a:off x="8030927" y="2476507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‘D’</a:t>
            </a:r>
          </a:p>
        </p:txBody>
      </p:sp>
    </p:spTree>
    <p:extLst>
      <p:ext uri="{BB962C8B-B14F-4D97-AF65-F5344CB8AC3E}">
        <p14:creationId xmlns:p14="http://schemas.microsoft.com/office/powerpoint/2010/main" val="14745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2BA154-07BA-4ED5-7428-2CDB0ADDCF52}"/>
              </a:ext>
            </a:extLst>
          </p:cNvPr>
          <p:cNvSpPr txBox="1"/>
          <p:nvPr/>
        </p:nvSpPr>
        <p:spPr>
          <a:xfrm>
            <a:off x="3021497" y="78986"/>
            <a:ext cx="5108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Transient Measurement</a:t>
            </a:r>
            <a:endParaRPr lang="en-US" sz="32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856BE-F8CD-543D-A241-A63567FD1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45" y="541350"/>
            <a:ext cx="3134995" cy="367284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6DB79D-F7FF-36CD-F925-AD3F9BD3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19" y="541350"/>
            <a:ext cx="3134360" cy="371856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0A616E-15EC-800F-0BDF-3C5F154CD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873" y="3140765"/>
            <a:ext cx="3054350" cy="356806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E9E622-6737-9C59-B5D0-EA3938FAF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706" y="3144274"/>
            <a:ext cx="3065780" cy="3634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CAAB1C-9B7A-D842-872D-6BEF39096546}"/>
              </a:ext>
            </a:extLst>
          </p:cNvPr>
          <p:cNvSpPr txBox="1"/>
          <p:nvPr/>
        </p:nvSpPr>
        <p:spPr>
          <a:xfrm>
            <a:off x="1765426" y="4299136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4F775-B209-4266-7173-9E5631CE3A38}"/>
              </a:ext>
            </a:extLst>
          </p:cNvPr>
          <p:cNvSpPr txBox="1"/>
          <p:nvPr/>
        </p:nvSpPr>
        <p:spPr>
          <a:xfrm>
            <a:off x="7932933" y="2701249"/>
            <a:ext cx="29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 ‘F’</a:t>
            </a:r>
          </a:p>
        </p:txBody>
      </p:sp>
    </p:spTree>
    <p:extLst>
      <p:ext uri="{BB962C8B-B14F-4D97-AF65-F5344CB8AC3E}">
        <p14:creationId xmlns:p14="http://schemas.microsoft.com/office/powerpoint/2010/main" val="68330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D9467-C5F1-12C0-6B11-97852BBA9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57778"/>
              </p:ext>
            </p:extLst>
          </p:nvPr>
        </p:nvGraphicFramePr>
        <p:xfrm>
          <a:off x="5290805" y="1062387"/>
          <a:ext cx="6685848" cy="5239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8616">
                  <a:extLst>
                    <a:ext uri="{9D8B030D-6E8A-4147-A177-3AD203B41FA5}">
                      <a16:colId xmlns:a16="http://schemas.microsoft.com/office/drawing/2014/main" val="2671826478"/>
                    </a:ext>
                  </a:extLst>
                </a:gridCol>
                <a:gridCol w="2228616">
                  <a:extLst>
                    <a:ext uri="{9D8B030D-6E8A-4147-A177-3AD203B41FA5}">
                      <a16:colId xmlns:a16="http://schemas.microsoft.com/office/drawing/2014/main" val="4056131515"/>
                    </a:ext>
                  </a:extLst>
                </a:gridCol>
                <a:gridCol w="2228616">
                  <a:extLst>
                    <a:ext uri="{9D8B030D-6E8A-4147-A177-3AD203B41FA5}">
                      <a16:colId xmlns:a16="http://schemas.microsoft.com/office/drawing/2014/main" val="625802527"/>
                    </a:ext>
                  </a:extLst>
                </a:gridCol>
              </a:tblGrid>
              <a:tr h="6066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Signal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Rise Time (tr) [ps]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Fall Time (tf) [ps]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167514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4879927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444747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1733813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1679058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815000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F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5.287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28.95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506197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CO/PULS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2.725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4.554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92382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DD9C532-B62D-5240-A44E-D5FB669D3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868" y="218030"/>
            <a:ext cx="535460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Transient Measurement of Logic Function: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E8A7D8-A98A-1711-55BA-3A2F1901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" y="682819"/>
            <a:ext cx="3137535" cy="370332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C60C1-FC65-C066-9B5F-B374CEF4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5" y="702504"/>
            <a:ext cx="3200400" cy="3683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AE59B-D6A2-0D9A-41C2-606172C7764D}"/>
              </a:ext>
            </a:extLst>
          </p:cNvPr>
          <p:cNvSpPr txBox="1"/>
          <p:nvPr/>
        </p:nvSpPr>
        <p:spPr>
          <a:xfrm>
            <a:off x="178904" y="4591878"/>
            <a:ext cx="4283766" cy="1709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811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5D348-7828-E864-BFCC-322F40234B43}"/>
              </a:ext>
            </a:extLst>
          </p:cNvPr>
          <p:cNvSpPr txBox="1"/>
          <p:nvPr/>
        </p:nvSpPr>
        <p:spPr>
          <a:xfrm>
            <a:off x="128015" y="536713"/>
            <a:ext cx="4455673" cy="5388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</a:t>
            </a:r>
            <a:r>
              <a:rPr lang="en-US" b="1" dirty="0"/>
              <a:t>Stick Diagram: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manual stick diagram was drawn using the Euler path A–B–E–C–D to optimize transistor placement.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Shared diffusion regions were utilized to minimize layout area.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Source and drain terminals were clearly marked.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Different layers such as polysilicon, n-diffusion, p-diffusion, Metal1, and Metal2 were represented.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Body contacts and VDD/GND rails were also included in the diagram.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FE4F3-BCF6-7F75-652A-E79ADB077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2854" y="188843"/>
            <a:ext cx="6318668" cy="650019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2E656E-52D9-847F-5BDB-3D3D5BBB1BD3}"/>
                  </a:ext>
                </a:extLst>
              </p:cNvPr>
              <p:cNvSpPr txBox="1"/>
              <p:nvPr/>
            </p:nvSpPr>
            <p:spPr>
              <a:xfrm>
                <a:off x="268358" y="4462670"/>
                <a:ext cx="4806480" cy="1882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Cell Area Estimation </a:t>
                </a:r>
                <a:endParaRPr lang="en-US" sz="1400" dirty="0"/>
              </a:p>
              <a:p>
                <a:r>
                  <a:rPr lang="en-US" sz="1400" dirty="0"/>
                  <a:t>No horizontal metal/ diffusion tracks = 18</a:t>
                </a:r>
              </a:p>
              <a:p>
                <a:r>
                  <a:rPr lang="en-US" sz="1400" dirty="0"/>
                  <a:t>No of vertical metal tracks = 7</a:t>
                </a:r>
              </a:p>
              <a:p>
                <a:r>
                  <a:rPr lang="en-US" sz="1400" dirty="0"/>
                  <a:t>Given that every diffusion or metal track must maintain a minimum width of </a:t>
                </a:r>
                <a:r>
                  <a:rPr lang="en-US" sz="1400" b="1" dirty="0"/>
                  <a:t>4λ</a:t>
                </a:r>
                <a:r>
                  <a:rPr lang="en-US" sz="1400" dirty="0"/>
                  <a:t>, and a </a:t>
                </a:r>
                <a:r>
                  <a:rPr lang="en-US" sz="1400" b="1" dirty="0"/>
                  <a:t>4λ separation</a:t>
                </a:r>
                <a:r>
                  <a:rPr lang="en-US" sz="1400" dirty="0"/>
                  <a:t> is required between neighboring metal layers,</a:t>
                </a:r>
              </a:p>
              <a:p>
                <a:r>
                  <a:rPr lang="en-US" sz="1400" dirty="0"/>
                  <a:t>Approximate cell area = [18 ×(4λ + 4λ )]×[7×(4λ + 4λ)]= 8064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2E656E-52D9-847F-5BDB-3D3D5BBB1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58" y="4462670"/>
                <a:ext cx="4806480" cy="1882247"/>
              </a:xfrm>
              <a:prstGeom prst="rect">
                <a:avLst/>
              </a:prstGeom>
              <a:blipFill>
                <a:blip r:embed="rId3"/>
                <a:stretch>
                  <a:fillRect l="-381" t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927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3A55E3-4EF9-077D-7061-95287CA3ABD7}"/>
              </a:ext>
            </a:extLst>
          </p:cNvPr>
          <p:cNvSpPr txBox="1"/>
          <p:nvPr/>
        </p:nvSpPr>
        <p:spPr>
          <a:xfrm>
            <a:off x="198783" y="646045"/>
            <a:ext cx="46216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Layout Design</a:t>
            </a:r>
          </a:p>
          <a:p>
            <a:r>
              <a:rPr lang="en-US" dirty="0"/>
              <a:t>•The layout was initiated from the schematic using Launch → Layout XL.</a:t>
            </a:r>
          </a:p>
          <a:p>
            <a:r>
              <a:rPr lang="en-US" dirty="0"/>
              <a:t>•Devices were auto-placed via Generate → All from Source.</a:t>
            </a:r>
          </a:p>
          <a:p>
            <a:r>
              <a:rPr lang="en-US" dirty="0"/>
              <a:t>•Snap settings were configured to any-angle (option-display → Snap mode → create </a:t>
            </a:r>
            <a:r>
              <a:rPr lang="en-US" dirty="0" err="1"/>
              <a:t>anyangle</a:t>
            </a:r>
            <a:r>
              <a:rPr lang="en-US" dirty="0"/>
              <a:t>) and later set to diagonal with a stop time of 10.</a:t>
            </a:r>
          </a:p>
          <a:p>
            <a:r>
              <a:rPr lang="en-US" dirty="0"/>
              <a:t>•Metal1 and Metal2 were used to route VDD, GND, inputs, and outputs.</a:t>
            </a:r>
          </a:p>
          <a:p>
            <a:r>
              <a:rPr lang="en-US" dirty="0"/>
              <a:t>•Vias were inserted between metal layers wherever necessary.</a:t>
            </a:r>
          </a:p>
          <a:p>
            <a:r>
              <a:rPr lang="en-US" dirty="0"/>
              <a:t>•The layout was refined manually to ensure compactness, symmetry, and full DRC compliance.</a:t>
            </a:r>
          </a:p>
          <a:p>
            <a:r>
              <a:rPr lang="en-US" dirty="0"/>
              <a:t>•The Euler path strategy helped reduce diffusion breaks and routing congestion.</a:t>
            </a:r>
          </a:p>
        </p:txBody>
      </p:sp>
      <p:pic>
        <p:nvPicPr>
          <p:cNvPr id="6" name="Picture 5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47253170-EB92-854A-C3DC-B6539C4D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390" y="156845"/>
            <a:ext cx="6658610" cy="65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87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434F7-DDB9-FD5D-14FD-A71A430B34EF}"/>
              </a:ext>
            </a:extLst>
          </p:cNvPr>
          <p:cNvSpPr txBox="1"/>
          <p:nvPr/>
        </p:nvSpPr>
        <p:spPr>
          <a:xfrm>
            <a:off x="288236" y="792343"/>
            <a:ext cx="269350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405"/>
              </a:spcBef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Design Rule Check (DRC)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405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Pegasus → Run DRC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was executed using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45nm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gpdk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PDK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rule definitions.</a:t>
            </a:r>
          </a:p>
          <a:p>
            <a:pPr marL="342900" marR="0" lvl="0" indent="-342900">
              <a:spcBef>
                <a:spcPts val="405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spacing, width, enclosure, and contact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constraints were validated.</a:t>
            </a:r>
          </a:p>
          <a:p>
            <a:pPr marL="342900" marR="0" lvl="0" indent="-342900">
              <a:spcBef>
                <a:spcPts val="405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layout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passed DRC successfully with zero violations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AE5CEC-3838-E6F0-3CD3-E7855BF98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070" y="237211"/>
            <a:ext cx="8812693" cy="650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19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586938-5219-9215-F9D6-1D6D0449E1C4}"/>
              </a:ext>
            </a:extLst>
          </p:cNvPr>
          <p:cNvSpPr txBox="1"/>
          <p:nvPr/>
        </p:nvSpPr>
        <p:spPr>
          <a:xfrm>
            <a:off x="775252" y="397566"/>
            <a:ext cx="336936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405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Layout vs. Schematic (LVS)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405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Pegasus → Run LVS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was used to compare the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extracted layout netlist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the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original schematic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spcBef>
                <a:spcPts val="405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Verification included:</a:t>
            </a:r>
          </a:p>
          <a:p>
            <a:pPr marL="742950" marR="0" lvl="1" indent="-285750">
              <a:spcBef>
                <a:spcPts val="405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Device count consistency</a:t>
            </a:r>
          </a:p>
          <a:p>
            <a:pPr marL="742950" marR="0" lvl="1" indent="-285750">
              <a:spcBef>
                <a:spcPts val="405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 pin-wise connectivity</a:t>
            </a:r>
          </a:p>
          <a:p>
            <a:pPr marL="742950" marR="0" lvl="1" indent="-285750">
              <a:spcBef>
                <a:spcPts val="405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 instance recognition</a:t>
            </a:r>
          </a:p>
          <a:p>
            <a:pPr marL="342900" marR="0" lvl="0" indent="-342900">
              <a:spcBef>
                <a:spcPts val="405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LVS passed with a 100% match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confirming no errors or warnings.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543898-AC9D-8FA2-FB0E-1191DBF5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235" y="397566"/>
            <a:ext cx="7261860" cy="6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85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B3A5D8-DF86-72C8-EC79-2B0F17AF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402"/>
            <a:ext cx="8832715" cy="6888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B487C-DC1F-D92E-A9C7-8300A4660806}"/>
              </a:ext>
            </a:extLst>
          </p:cNvPr>
          <p:cNvSpPr txBox="1"/>
          <p:nvPr/>
        </p:nvSpPr>
        <p:spPr>
          <a:xfrm>
            <a:off x="9022770" y="1828800"/>
            <a:ext cx="2958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CELL MATCH STATISTICS AND CELL MATCH SUMMERY</a:t>
            </a:r>
          </a:p>
        </p:txBody>
      </p:sp>
    </p:spTree>
    <p:extLst>
      <p:ext uri="{BB962C8B-B14F-4D97-AF65-F5344CB8AC3E}">
        <p14:creationId xmlns:p14="http://schemas.microsoft.com/office/powerpoint/2010/main" val="2744125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22F97E-1896-0E8C-499A-8A6ADDFB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9148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DB053-DD8C-C4F1-14EB-A2F8A033EAD4}"/>
              </a:ext>
            </a:extLst>
          </p:cNvPr>
          <p:cNvSpPr txBox="1"/>
          <p:nvPr/>
        </p:nvSpPr>
        <p:spPr>
          <a:xfrm>
            <a:off x="9429136" y="2871020"/>
            <a:ext cx="236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CELL COMPARISON </a:t>
            </a:r>
          </a:p>
        </p:txBody>
      </p:sp>
    </p:spTree>
    <p:extLst>
      <p:ext uri="{BB962C8B-B14F-4D97-AF65-F5344CB8AC3E}">
        <p14:creationId xmlns:p14="http://schemas.microsoft.com/office/powerpoint/2010/main" val="157582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1F39C-B1CA-6145-D7EF-D4E2E787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" y="88490"/>
            <a:ext cx="9320981" cy="6769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60A1E-5427-DA93-DADA-509C112818B0}"/>
              </a:ext>
            </a:extLst>
          </p:cNvPr>
          <p:cNvSpPr txBox="1"/>
          <p:nvPr/>
        </p:nvSpPr>
        <p:spPr>
          <a:xfrm>
            <a:off x="9399638" y="2251586"/>
            <a:ext cx="2782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INITIAL CORRESPONDENCES</a:t>
            </a:r>
          </a:p>
        </p:txBody>
      </p:sp>
    </p:spTree>
    <p:extLst>
      <p:ext uri="{BB962C8B-B14F-4D97-AF65-F5344CB8AC3E}">
        <p14:creationId xmlns:p14="http://schemas.microsoft.com/office/powerpoint/2010/main" val="2202614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 descr="Parchment">
            <a:extLst>
              <a:ext uri="{FF2B5EF4-FFF2-40B4-BE49-F238E27FC236}">
                <a16:creationId xmlns:a16="http://schemas.microsoft.com/office/drawing/2014/main" id="{65DDDE7C-A5D7-831B-96F6-63E9EB927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71" y="151075"/>
            <a:ext cx="11248103" cy="95216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latin typeface="Comic Sans MS" panose="030F0702030302020204" pitchFamily="66" charset="0"/>
              </a:rPr>
              <a:t>CONCLUSION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9DA14-E084-E98E-D3EF-8945F1C44DE6}"/>
              </a:ext>
            </a:extLst>
          </p:cNvPr>
          <p:cNvSpPr txBox="1"/>
          <p:nvPr/>
        </p:nvSpPr>
        <p:spPr>
          <a:xfrm>
            <a:off x="816076" y="1504335"/>
            <a:ext cx="101075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Designed and simulated the logic function </a:t>
            </a:r>
            <a:r>
              <a:rPr lang="en-US" b="1" dirty="0"/>
              <a:t>F=</a:t>
            </a:r>
            <a:r>
              <a:rPr lang="en-US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((A.B)+E+(C.D))’</a:t>
            </a:r>
            <a:r>
              <a:rPr lang="en-US" dirty="0"/>
              <a:t> using complementary CMOS technology on Cadence Virtuoso with 45nm GPDK process.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Followed a structured design flow: transistor sizing, schematic capture, simulation, stick diagram creation, layout design, and final verification via DRC and LVS.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Used Euler path optimization in stick diagram development to achieve an efficient and manufacturable layout.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Transient simulations verified logical correctness, signal integrity, and timing accuracy before and after considering parasitic effects.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Clean DRC and LVS reports confirmed the layout’s compliance with electrical and fabrication rules, indicating readiness for manufacturing.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Extracted SPICE netlist showed robust circuit performance despite parasitic effects; gained hands-on experience in CMOS design, layout optimization, and verification essential for VLSI development. </a:t>
            </a:r>
          </a:p>
        </p:txBody>
      </p:sp>
    </p:spTree>
    <p:extLst>
      <p:ext uri="{BB962C8B-B14F-4D97-AF65-F5344CB8AC3E}">
        <p14:creationId xmlns:p14="http://schemas.microsoft.com/office/powerpoint/2010/main" val="4276256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F6EFA6-F4F0-B6CD-5591-6B640D40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 for listening our presentation….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pointing at a green board&#10;&#10;AI-generated content may be incorrect.">
            <a:extLst>
              <a:ext uri="{FF2B5EF4-FFF2-40B4-BE49-F238E27FC236}">
                <a16:creationId xmlns:a16="http://schemas.microsoft.com/office/drawing/2014/main" id="{0877C968-3CA4-B838-1BE8-29AFA3D3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295943"/>
            <a:ext cx="5536001" cy="420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1465</Words>
  <Application>Microsoft Office PowerPoint</Application>
  <PresentationFormat>Widescreen</PresentationFormat>
  <Paragraphs>250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Comic Sans MS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listening our presentation….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Subita Anonna</dc:creator>
  <cp:lastModifiedBy>Subita Anonna</cp:lastModifiedBy>
  <cp:revision>3</cp:revision>
  <dcterms:created xsi:type="dcterms:W3CDTF">2025-09-30T17:45:38Z</dcterms:created>
  <dcterms:modified xsi:type="dcterms:W3CDTF">2025-10-11T09:42:08Z</dcterms:modified>
</cp:coreProperties>
</file>